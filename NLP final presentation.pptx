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Montserrat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1EB9E2-0229-4288-B617-76AC782C998B}">
  <a:tblStyle styleId="{AD1EB9E2-0229-4288-B617-76AC782C99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La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87997393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f87997393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Today I’ll present my project comparing different sentiment analysis approaches — from rule-based methods to classical machine learning and transformer-based models — across three benchmark datasets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f87997393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f87997393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Sentiment analysis is one of the most common NLP tasks in industry. However, there’s a tension between using complex models like transformers and simpler models that are faster and easier to interpret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f87997393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f87997393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Most existing work focuses on either classical methods or deep learning in isolation. Very few studies compare these approaches systematically under the same experimental conditions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f87997393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f87997393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 do models compare under identical conditions?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 does dataset size affect performance?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is complexity justified?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f87997393_0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f87997393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hese datasets allow us to test models across different scales and sentiment granularities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f87997393_0_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f87997393_0_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covers the full spectrum — from no training at all to large pre-trained transformer models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f96f5393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f96f5393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ensure fairness, all models were evaluated using the same splits and metrics, with hyperparameter tuning applied where appropriate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f87997393_0_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f87997393_0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1. TF–IDF + Logistic Regression remains the strongest classical approach (96%).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2. RoBERTa fine-tuning would likely exceed 95–97%.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3. VADER is unsuitable for long movie reviews.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4. CNNs improve but still fail to match classical models on medium-sized datasets.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f87997393_0_10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1f87997393_0_10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SST-5 fundamentally changes the picture. Fine-grained sentiment requires contextual understanding, where transformers clearly outperform simpler methods.: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1. Hyperoptimized NB convincingly outperforms all classical models.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2. RoBERTa remains the best overall, but ComplementNB is surprisingly competitive.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3. CNNs perform poorly due to dataset size &amp; fine-grained difficulty.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4. VADER should not be used for multi-class or subtle polarity tasks.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f87997393_0_1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f87997393_0_1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With enough data, classical models reach near-ceiling performance, offering little room for transformers to improve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f87997393_0_1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1f87997393_0_1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trade-off is critical for real-world deployment, where cost and latency matte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f87997393_0_1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f87997393_0_1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Metrics alone hide systematic errors, which we uncovered using confusion matrices and per-class metrics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f87997393_0_1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f87997393_0_1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Manual inspection shows that models fail differently — transformers handle negation and context better, while classical models rely on surface-level cues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f87997393_0_1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f87997393_0_1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key takeaway is to start simple and only increase complexity when justified by the task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f87997393_0_1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1f87997393_0_1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work could explore where transformer advantages are more pronounced.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f87997393_0_1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1f87997393_0_1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406605.jpg" id="10" name="Google Shape;10;p2"/>
          <p:cNvPicPr preferRelativeResize="0"/>
          <p:nvPr/>
        </p:nvPicPr>
        <p:blipFill rotWithShape="1">
          <a:blip r:embed="rId2">
            <a:alphaModFix amt="66000"/>
          </a:blip>
          <a:srcRect b="39565" l="20991" r="40112" t="2690"/>
          <a:stretch/>
        </p:blipFill>
        <p:spPr>
          <a:xfrm>
            <a:off x="0" y="0"/>
            <a:ext cx="5157900" cy="5143500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offset_comp_342327_edtied.jpg" id="11" name="Google Shape;11;p2"/>
          <p:cNvPicPr preferRelativeResize="0"/>
          <p:nvPr/>
        </p:nvPicPr>
        <p:blipFill rotWithShape="1">
          <a:blip r:embed="rId3">
            <a:alphaModFix amt="31000"/>
          </a:blip>
          <a:srcRect b="11297" l="14009" r="43289" t="35833"/>
          <a:stretch/>
        </p:blipFill>
        <p:spPr>
          <a:xfrm rot="10800000">
            <a:off x="6976800" y="-25"/>
            <a:ext cx="2167200" cy="2012700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 rot="-5400000">
            <a:off x="5846" y="-4836"/>
            <a:ext cx="2291400" cy="2300100"/>
          </a:xfrm>
          <a:prstGeom prst="diagStrip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 flipH="1">
            <a:off x="652821" y="576768"/>
            <a:ext cx="2300100" cy="2291400"/>
          </a:xfrm>
          <a:prstGeom prst="diagStrip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9" name="Google Shape;19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" name="Google Shape;37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" name="Google Shape;39;p3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">
  <p:cSld name="SECTION_HEADER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45" name="Google Shape;45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4" name="Google Shape;64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1" name="Google Shape;7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1">
  <p:cSld name="TITLE_AND_BODY_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361071" y="1924852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8" name="Google Shape;78;p6"/>
          <p:cNvSpPr/>
          <p:nvPr/>
        </p:nvSpPr>
        <p:spPr>
          <a:xfrm>
            <a:off x="4564200" y="0"/>
            <a:ext cx="4579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 txBox="1"/>
          <p:nvPr>
            <p:ph idx="1" type="body"/>
          </p:nvPr>
        </p:nvSpPr>
        <p:spPr>
          <a:xfrm>
            <a:off x="6451271" y="1924850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6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5" name="Google Shape;85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6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2">
  <p:cSld name="TITLE_AND_BODY_2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/>
          <p:nvPr>
            <p:ph type="title"/>
          </p:nvPr>
        </p:nvSpPr>
        <p:spPr>
          <a:xfrm>
            <a:off x="702850" y="1708619"/>
            <a:ext cx="3333300" cy="14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" name="Google Shape;91;p7"/>
          <p:cNvSpPr/>
          <p:nvPr/>
        </p:nvSpPr>
        <p:spPr>
          <a:xfrm>
            <a:off x="0" y="3486600"/>
            <a:ext cx="9144000" cy="165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7" name="Google Shape;97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7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7"/>
          <p:cNvSpPr txBox="1"/>
          <p:nvPr>
            <p:ph idx="1" type="body"/>
          </p:nvPr>
        </p:nvSpPr>
        <p:spPr>
          <a:xfrm>
            <a:off x="702850" y="3625275"/>
            <a:ext cx="3333300" cy="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" name="Google Shape;107;p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8" name="Google Shape;108;p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" name="Google Shape;111;p8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20" name="Google Shape;120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3" name="Google Shape;12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10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0" name="Google Shape;130;p1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0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3" name="Google Shape;133;p10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41" name="Google Shape;141;p1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11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" name="Google Shape;166;p12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67" name="Google Shape;167;p1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12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12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71" name="Google Shape;171;p12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3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75" name="Google Shape;175;p13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13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78" name="Google Shape;17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9" name="Google Shape;179;p13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85" name="Google Shape;185;p1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14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4" name="Google Shape;204;p14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5" name="Google Shape;20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" name="Google Shape;206;p14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3">
  <p:cSld name="TITLE_AND_BODY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343059.jpg" id="213" name="Google Shape;213;p16"/>
          <p:cNvPicPr preferRelativeResize="0"/>
          <p:nvPr/>
        </p:nvPicPr>
        <p:blipFill rotWithShape="1">
          <a:blip r:embed="rId2">
            <a:alphaModFix amt="80000"/>
          </a:blip>
          <a:srcRect b="25870" l="30474" r="30474" t="11955"/>
          <a:stretch/>
        </p:blipFill>
        <p:spPr>
          <a:xfrm rot="-5400000">
            <a:off x="113630" y="-105700"/>
            <a:ext cx="5142300" cy="5364300"/>
          </a:xfrm>
          <a:prstGeom prst="diagStripe">
            <a:avLst>
              <a:gd fmla="val 50343" name="adj"/>
            </a:avLst>
          </a:prstGeom>
          <a:noFill/>
          <a:ln>
            <a:noFill/>
          </a:ln>
        </p:spPr>
      </p:pic>
      <p:sp>
        <p:nvSpPr>
          <p:cNvPr id="214" name="Google Shape;21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5" name="Google Shape;215;p16"/>
          <p:cNvSpPr txBox="1"/>
          <p:nvPr>
            <p:ph idx="1" type="body"/>
          </p:nvPr>
        </p:nvSpPr>
        <p:spPr>
          <a:xfrm>
            <a:off x="4018025" y="1567550"/>
            <a:ext cx="4318500" cy="17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" name="Google Shape;21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7" name="Google Shape;217;p16">
            <a:hlinkClick action="ppaction://hlinksldjump" r:id="rId3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>
            <a:hlinkClick action="ppaction://hlinksldjump" r:id="rId4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">
            <a:hlinkClick action="ppaction://hlinksldjump" r:id="rId5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">
            <a:hlinkClick action="ppaction://hlinksldjump" r:id="rId6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222" name="Google Shape;222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/>
          <p:nvPr>
            <p:ph type="ctrTitle"/>
          </p:nvPr>
        </p:nvSpPr>
        <p:spPr>
          <a:xfrm>
            <a:off x="3202075" y="1109375"/>
            <a:ext cx="5302200" cy="17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/>
              <a:t>Comparative Analysis of Sentiment Analysis Models</a:t>
            </a:r>
            <a:endParaRPr sz="3500"/>
          </a:p>
        </p:txBody>
      </p:sp>
      <p:sp>
        <p:nvSpPr>
          <p:cNvPr id="229" name="Google Shape;229;p17"/>
          <p:cNvSpPr txBox="1"/>
          <p:nvPr>
            <p:ph idx="1" type="subTitle"/>
          </p:nvPr>
        </p:nvSpPr>
        <p:spPr>
          <a:xfrm>
            <a:off x="5915975" y="401737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Fadi Awawdeh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 txBox="1"/>
          <p:nvPr>
            <p:ph type="title"/>
          </p:nvPr>
        </p:nvSpPr>
        <p:spPr>
          <a:xfrm>
            <a:off x="1297500" y="1132625"/>
            <a:ext cx="7038900" cy="4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Motivation</a:t>
            </a:r>
            <a:endParaRPr b="1"/>
          </a:p>
        </p:txBody>
      </p:sp>
      <p:sp>
        <p:nvSpPr>
          <p:cNvPr id="235" name="Google Shape;235;p18"/>
          <p:cNvSpPr txBox="1"/>
          <p:nvPr/>
        </p:nvSpPr>
        <p:spPr>
          <a:xfrm>
            <a:off x="564600" y="1762944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564600" y="2620069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564600" y="3477200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1336300" y="1865775"/>
            <a:ext cx="3235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Sentiment analysis is widely used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1371025" y="2689400"/>
            <a:ext cx="3235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Many competing model paradigms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1422575" y="3581375"/>
            <a:ext cx="3235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Trade-offs: accuracy, cost, interpretability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Research Gap</a:t>
            </a:r>
            <a:endParaRPr b="1"/>
          </a:p>
        </p:txBody>
      </p:sp>
      <p:sp>
        <p:nvSpPr>
          <p:cNvPr id="246" name="Google Shape;246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Prior work focuses on single paradigm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Few controlled comparisons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Often single dataset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Research Questions</a:t>
            </a:r>
            <a:endParaRPr b="1"/>
          </a:p>
        </p:txBody>
      </p:sp>
      <p:sp>
        <p:nvSpPr>
          <p:cNvPr id="252" name="Google Shape;252;p20"/>
          <p:cNvSpPr txBox="1"/>
          <p:nvPr>
            <p:ph idx="1" type="body"/>
          </p:nvPr>
        </p:nvSpPr>
        <p:spPr>
          <a:xfrm>
            <a:off x="1442100" y="1539488"/>
            <a:ext cx="5877300" cy="8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FFFFFF"/>
                </a:solidFill>
              </a:rPr>
              <a:t>How do rule based, classical supervised machine learning and transformer based models differ in accuracy and efficiency for sentiment classification across multiple datasets?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53" name="Google Shape;253;p20"/>
          <p:cNvPicPr preferRelativeResize="0"/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5354725" y="2653088"/>
            <a:ext cx="3735619" cy="249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"/>
          <p:cNvSpPr txBox="1"/>
          <p:nvPr>
            <p:ph type="title"/>
          </p:nvPr>
        </p:nvSpPr>
        <p:spPr>
          <a:xfrm>
            <a:off x="1373125" y="3769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Datasets</a:t>
            </a:r>
            <a:endParaRPr b="1"/>
          </a:p>
        </p:txBody>
      </p:sp>
      <p:graphicFrame>
        <p:nvGraphicFramePr>
          <p:cNvPr id="259" name="Google Shape;259;p21"/>
          <p:cNvGraphicFramePr/>
          <p:nvPr/>
        </p:nvGraphicFramePr>
        <p:xfrm>
          <a:off x="238100" y="170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{AD1EB9E2-0229-4288-B617-76AC782C998B}</a:tableStyleId>
              </a:tblPr>
              <a:tblGrid>
                <a:gridCol w="1735050"/>
                <a:gridCol w="1735050"/>
                <a:gridCol w="1735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lt1"/>
                          </a:solidFill>
                        </a:rPr>
                        <a:t>Dataset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lt1"/>
                          </a:solidFill>
                        </a:rPr>
                        <a:t>Size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lt1"/>
                          </a:solidFill>
                        </a:rPr>
                        <a:t>Classes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lt1"/>
                          </a:solidFill>
                        </a:rPr>
                        <a:t>IMDB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40k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Binary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lt1"/>
                          </a:solidFill>
                        </a:rPr>
                        <a:t>SST-5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~11k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5-class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lt1"/>
                          </a:solidFill>
                        </a:rPr>
                        <a:t>Amazon polarity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~35Million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Binary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60" name="Google Shape;26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2775" y="2704575"/>
            <a:ext cx="2276475" cy="236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5650" y="152400"/>
            <a:ext cx="3395949" cy="2305507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1"/>
          <p:cNvSpPr txBox="1"/>
          <p:nvPr/>
        </p:nvSpPr>
        <p:spPr>
          <a:xfrm>
            <a:off x="4361900" y="310975"/>
            <a:ext cx="11346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SST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4832525" y="462250"/>
            <a:ext cx="512700" cy="159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5496500" y="3581400"/>
            <a:ext cx="11346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IMDB</a:t>
            </a: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6118400" y="3647500"/>
            <a:ext cx="512700" cy="277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2"/>
          <p:cNvSpPr txBox="1"/>
          <p:nvPr>
            <p:ph type="title"/>
          </p:nvPr>
        </p:nvSpPr>
        <p:spPr>
          <a:xfrm>
            <a:off x="1297500" y="842025"/>
            <a:ext cx="56097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-GB"/>
              <a:t>Models Evaluated</a:t>
            </a:r>
            <a:endParaRPr b="1"/>
          </a:p>
        </p:txBody>
      </p:sp>
      <p:sp>
        <p:nvSpPr>
          <p:cNvPr id="271" name="Google Shape;271;p22"/>
          <p:cNvSpPr txBox="1"/>
          <p:nvPr/>
        </p:nvSpPr>
        <p:spPr>
          <a:xfrm>
            <a:off x="1211750" y="1620069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1203560" y="2302456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1211750" y="3034244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1211750" y="3754694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2025475" y="1714500"/>
            <a:ext cx="22944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Rule-based: VADER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1991850" y="2395250"/>
            <a:ext cx="3706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Classical ML: Logistic Regression, Naive Bayes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1944650" y="3843050"/>
            <a:ext cx="31434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Deep Learning: 1D CNN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2025475" y="3143000"/>
            <a:ext cx="31434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Transformer model:RoBERTa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79" name="Google Shape;279;p22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5473675" y="0"/>
            <a:ext cx="3670328" cy="1955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3"/>
          <p:cNvSpPr txBox="1"/>
          <p:nvPr>
            <p:ph type="title"/>
          </p:nvPr>
        </p:nvSpPr>
        <p:spPr>
          <a:xfrm>
            <a:off x="1297500" y="842025"/>
            <a:ext cx="56097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-GB"/>
              <a:t>Experimental Setup</a:t>
            </a:r>
            <a:endParaRPr b="1"/>
          </a:p>
        </p:txBody>
      </p:sp>
      <p:sp>
        <p:nvSpPr>
          <p:cNvPr id="285" name="Google Shape;285;p23"/>
          <p:cNvSpPr txBox="1"/>
          <p:nvPr>
            <p:ph idx="1" type="body"/>
          </p:nvPr>
        </p:nvSpPr>
        <p:spPr>
          <a:xfrm>
            <a:off x="566325" y="1676825"/>
            <a:ext cx="5609700" cy="26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●"/>
            </a:pPr>
            <a:r>
              <a:rPr lang="en-GB">
                <a:solidFill>
                  <a:srgbClr val="FFFFFF"/>
                </a:solidFill>
              </a:rPr>
              <a:t>Same train/test splits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Char char="●"/>
            </a:pPr>
            <a:r>
              <a:rPr lang="en-GB">
                <a:solidFill>
                  <a:srgbClr val="FFFFFF"/>
                </a:solidFill>
              </a:rPr>
              <a:t>Same metrics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Char char="●"/>
            </a:pPr>
            <a:r>
              <a:rPr lang="en-GB">
                <a:solidFill>
                  <a:srgbClr val="FFFFFF"/>
                </a:solidFill>
              </a:rPr>
              <a:t>Hyperparameter tuning applied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86" name="Google Shape;28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1550" y="3538000"/>
            <a:ext cx="5412449" cy="160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IMDB Results</a:t>
            </a:r>
            <a:endParaRPr b="1"/>
          </a:p>
        </p:txBody>
      </p:sp>
      <p:sp>
        <p:nvSpPr>
          <p:cNvPr id="292" name="Google Shape;292;p24"/>
          <p:cNvSpPr txBox="1"/>
          <p:nvPr/>
        </p:nvSpPr>
        <p:spPr>
          <a:xfrm>
            <a:off x="1664075" y="1353100"/>
            <a:ext cx="6051300" cy="24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Logistic Regression : 93%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RoBERTa : ~88%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VADER: ~68%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1D-CNN: ~85%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3" name="Google Shape;29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2725" y="0"/>
            <a:ext cx="2956725" cy="283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SST-5 Results</a:t>
            </a:r>
            <a:endParaRPr b="1"/>
          </a:p>
        </p:txBody>
      </p:sp>
      <p:sp>
        <p:nvSpPr>
          <p:cNvPr id="299" name="Google Shape;299;p25"/>
          <p:cNvSpPr txBox="1"/>
          <p:nvPr/>
        </p:nvSpPr>
        <p:spPr>
          <a:xfrm>
            <a:off x="1498825" y="1670825"/>
            <a:ext cx="4840500" cy="23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VADER: ~20%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Classical ML: ~70–89%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RoBERTa: ~90%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1-D CNN: 40%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00" name="Google Shape;30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6275" y="0"/>
            <a:ext cx="2627726" cy="239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6275" y="2399750"/>
            <a:ext cx="2627725" cy="274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"/>
          <p:cNvSpPr txBox="1"/>
          <p:nvPr>
            <p:ph type="title"/>
          </p:nvPr>
        </p:nvSpPr>
        <p:spPr>
          <a:xfrm>
            <a:off x="1297500" y="393750"/>
            <a:ext cx="7038900" cy="5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Amazon Dataset</a:t>
            </a:r>
            <a:endParaRPr b="1"/>
          </a:p>
        </p:txBody>
      </p:sp>
      <p:sp>
        <p:nvSpPr>
          <p:cNvPr id="307" name="Google Shape;307;p26"/>
          <p:cNvSpPr txBox="1"/>
          <p:nvPr>
            <p:ph idx="2" type="body"/>
          </p:nvPr>
        </p:nvSpPr>
        <p:spPr>
          <a:xfrm>
            <a:off x="1297500" y="1656775"/>
            <a:ext cx="3059700" cy="27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Logistic Regression: ~96%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Naive Bayes:~92%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Vader: ~65%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RoBERTa: ~92–94%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CNN: ~90%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8" name="Google Shape;308;p26"/>
          <p:cNvGrpSpPr/>
          <p:nvPr/>
        </p:nvGrpSpPr>
        <p:grpSpPr>
          <a:xfrm>
            <a:off x="5081538" y="1615827"/>
            <a:ext cx="3462484" cy="2672600"/>
            <a:chOff x="3553042" y="1657806"/>
            <a:chExt cx="3461100" cy="2671532"/>
          </a:xfrm>
        </p:grpSpPr>
        <p:sp>
          <p:nvSpPr>
            <p:cNvPr id="309" name="Google Shape;309;p26"/>
            <p:cNvSpPr/>
            <p:nvPr/>
          </p:nvSpPr>
          <p:spPr>
            <a:xfrm>
              <a:off x="4856024" y="3625653"/>
              <a:ext cx="944700" cy="663300"/>
            </a:xfrm>
            <a:prstGeom prst="trapezoid">
              <a:avLst>
                <a:gd fmla="val 25000" name="adj"/>
              </a:avLst>
            </a:prstGeom>
            <a:solidFill>
              <a:srgbClr val="E7E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6"/>
            <p:cNvSpPr/>
            <p:nvPr/>
          </p:nvSpPr>
          <p:spPr>
            <a:xfrm rot="10800000">
              <a:off x="4953871" y="3681997"/>
              <a:ext cx="400200" cy="606600"/>
            </a:xfrm>
            <a:prstGeom prst="triangle">
              <a:avLst>
                <a:gd fmla="val 96745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6"/>
            <p:cNvSpPr/>
            <p:nvPr/>
          </p:nvSpPr>
          <p:spPr>
            <a:xfrm>
              <a:off x="4767796" y="3681816"/>
              <a:ext cx="163500" cy="606600"/>
            </a:xfrm>
            <a:prstGeom prst="triangle">
              <a:avLst>
                <a:gd fmla="val 98558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6"/>
            <p:cNvSpPr/>
            <p:nvPr/>
          </p:nvSpPr>
          <p:spPr>
            <a:xfrm rot="10800000">
              <a:off x="4678237" y="4276102"/>
              <a:ext cx="1210800" cy="456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6"/>
            <p:cNvSpPr/>
            <p:nvPr/>
          </p:nvSpPr>
          <p:spPr>
            <a:xfrm rot="10800000">
              <a:off x="4668343" y="4283738"/>
              <a:ext cx="1230600" cy="45600"/>
            </a:xfrm>
            <a:prstGeom prst="roundRect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6"/>
            <p:cNvSpPr/>
            <p:nvPr/>
          </p:nvSpPr>
          <p:spPr>
            <a:xfrm>
              <a:off x="4926950" y="3681915"/>
              <a:ext cx="42900" cy="5943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6"/>
            <p:cNvSpPr/>
            <p:nvPr/>
          </p:nvSpPr>
          <p:spPr>
            <a:xfrm>
              <a:off x="3553042" y="1674645"/>
              <a:ext cx="3461100" cy="2014500"/>
            </a:xfrm>
            <a:prstGeom prst="roundRect">
              <a:avLst>
                <a:gd fmla="val 1882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6"/>
            <p:cNvSpPr/>
            <p:nvPr/>
          </p:nvSpPr>
          <p:spPr>
            <a:xfrm>
              <a:off x="3553042" y="1657806"/>
              <a:ext cx="3461100" cy="2014500"/>
            </a:xfrm>
            <a:prstGeom prst="roundRect">
              <a:avLst>
                <a:gd fmla="val 1764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7" name="Google Shape;317;p26"/>
          <p:cNvSpPr/>
          <p:nvPr/>
        </p:nvSpPr>
        <p:spPr>
          <a:xfrm flipH="1">
            <a:off x="3569929" y="1714948"/>
            <a:ext cx="3356400" cy="1910100"/>
          </a:xfrm>
          <a:prstGeom prst="rtTriangle">
            <a:avLst/>
          </a:prstGeom>
          <a:solidFill>
            <a:srgbClr val="000000">
              <a:alpha val="4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8" name="Google Shape;31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9325" y="1656775"/>
            <a:ext cx="3356400" cy="201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7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Performance</a:t>
            </a:r>
            <a:r>
              <a:rPr b="1" lang="en-GB" sz="2000"/>
              <a:t> vs cost</a:t>
            </a:r>
            <a:endParaRPr b="1" sz="2000"/>
          </a:p>
        </p:txBody>
      </p:sp>
      <p:sp>
        <p:nvSpPr>
          <p:cNvPr id="324" name="Google Shape;324;p27"/>
          <p:cNvSpPr/>
          <p:nvPr/>
        </p:nvSpPr>
        <p:spPr>
          <a:xfrm flipH="1">
            <a:off x="2886886" y="1330368"/>
            <a:ext cx="3355200" cy="1909800"/>
          </a:xfrm>
          <a:prstGeom prst="rtTriangle">
            <a:avLst/>
          </a:prstGeom>
          <a:solidFill>
            <a:srgbClr val="000000">
              <a:alpha val="4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25" name="Google Shape;325;p27"/>
          <p:cNvGraphicFramePr/>
          <p:nvPr/>
        </p:nvGraphicFramePr>
        <p:xfrm>
          <a:off x="4571975" y="159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{AD1EB9E2-0229-4288-B617-76AC782C998B}</a:tableStyleId>
              </a:tblPr>
              <a:tblGrid>
                <a:gridCol w="1512275"/>
                <a:gridCol w="1512275"/>
                <a:gridCol w="1512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Model</a:t>
                      </a:r>
                      <a:endParaRPr b="1"/>
                    </a:p>
                  </a:txBody>
                  <a:tcPr marT="91425" marB="91425" marR="91425" marL="91425">
                    <a:lnL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Accuracy </a:t>
                      </a:r>
                      <a:endParaRPr b="1"/>
                    </a:p>
                  </a:txBody>
                  <a:tcPr marT="91425" marB="91425" marR="91425" marL="91425">
                    <a:lnL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Cost</a:t>
                      </a:r>
                      <a:endParaRPr b="1"/>
                    </a:p>
                  </a:txBody>
                  <a:tcPr marT="91425" marB="91425" marR="91425" marL="91425">
                    <a:lnL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Logistic Regression </a:t>
                      </a:r>
                      <a:endParaRPr b="1"/>
                    </a:p>
                  </a:txBody>
                  <a:tcPr marT="91425" marB="91425" marR="91425" marL="91425">
                    <a:lnL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High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Low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Vader</a:t>
                      </a:r>
                      <a:endParaRPr b="1"/>
                    </a:p>
                  </a:txBody>
                  <a:tcPr marT="91425" marB="91425" marR="91425" marL="91425">
                    <a:lnL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Low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Low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Naive Bayes</a:t>
                      </a:r>
                      <a:endParaRPr b="1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>
                    <a:lnL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High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Low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1-D CNN</a:t>
                      </a:r>
                      <a:endParaRPr b="1"/>
                    </a:p>
                  </a:txBody>
                  <a:tcPr marT="91425" marB="91425" marR="91425" marL="91425">
                    <a:lnL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Medium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Medium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RoBERTa</a:t>
                      </a:r>
                      <a:endParaRPr b="1"/>
                    </a:p>
                  </a:txBody>
                  <a:tcPr marT="91425" marB="91425" marR="91425" marL="91425">
                    <a:lnL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High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Very high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26" name="Google Shape;32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12700"/>
            <a:ext cx="4572000" cy="293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8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/>
              <a:t>Quantitative</a:t>
            </a:r>
            <a:r>
              <a:rPr b="1" lang="en-GB" sz="1500"/>
              <a:t> Error Analysis </a:t>
            </a:r>
            <a:endParaRPr b="1" sz="1500"/>
          </a:p>
        </p:txBody>
      </p:sp>
      <p:sp>
        <p:nvSpPr>
          <p:cNvPr id="332" name="Google Shape;332;p28"/>
          <p:cNvSpPr txBox="1"/>
          <p:nvPr>
            <p:ph type="title"/>
          </p:nvPr>
        </p:nvSpPr>
        <p:spPr>
          <a:xfrm>
            <a:off x="434700" y="1924850"/>
            <a:ext cx="3955200" cy="30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Neutral class confusion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Adjacent class errors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CNN precision–recall imbalance</a:t>
            </a:r>
            <a:endParaRPr sz="1600"/>
          </a:p>
        </p:txBody>
      </p:sp>
      <p:pic>
        <p:nvPicPr>
          <p:cNvPr id="333" name="Google Shape;33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614927"/>
            <a:ext cx="4572000" cy="3489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9"/>
          <p:cNvSpPr txBox="1"/>
          <p:nvPr>
            <p:ph idx="2" type="title"/>
          </p:nvPr>
        </p:nvSpPr>
        <p:spPr>
          <a:xfrm>
            <a:off x="1297500" y="459500"/>
            <a:ext cx="42966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/>
              <a:t>Qualitative Error Analysis</a:t>
            </a:r>
            <a:endParaRPr b="1" sz="1700"/>
          </a:p>
        </p:txBody>
      </p:sp>
      <p:sp>
        <p:nvSpPr>
          <p:cNvPr id="339" name="Google Shape;339;p29"/>
          <p:cNvSpPr txBox="1"/>
          <p:nvPr>
            <p:ph type="title"/>
          </p:nvPr>
        </p:nvSpPr>
        <p:spPr>
          <a:xfrm>
            <a:off x="4486725" y="970400"/>
            <a:ext cx="3507000" cy="24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Sarcasm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Negation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Mixed sentiment</a:t>
            </a:r>
            <a:endParaRPr sz="1600"/>
          </a:p>
        </p:txBody>
      </p:sp>
      <p:pic>
        <p:nvPicPr>
          <p:cNvPr id="340" name="Google Shape;34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06750"/>
            <a:ext cx="4181925" cy="2036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0"/>
          <p:cNvSpPr txBox="1"/>
          <p:nvPr/>
        </p:nvSpPr>
        <p:spPr>
          <a:xfrm>
            <a:off x="1580725" y="270275"/>
            <a:ext cx="26538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Key Findings</a:t>
            </a:r>
            <a:endParaRPr b="1"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6" name="Google Shape;346;p30"/>
          <p:cNvSpPr txBox="1"/>
          <p:nvPr/>
        </p:nvSpPr>
        <p:spPr>
          <a:xfrm>
            <a:off x="1543975" y="1736325"/>
            <a:ext cx="2727300" cy="27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Dataset size &gt; architecture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Classical ML strong baseline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Transformers for nuance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7" name="Google Shape;347;p30"/>
          <p:cNvSpPr txBox="1"/>
          <p:nvPr/>
        </p:nvSpPr>
        <p:spPr>
          <a:xfrm>
            <a:off x="811075" y="3579169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348" name="Google Shape;348;p30"/>
          <p:cNvSpPr txBox="1"/>
          <p:nvPr/>
        </p:nvSpPr>
        <p:spPr>
          <a:xfrm>
            <a:off x="847825" y="2571744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349" name="Google Shape;349;p30"/>
          <p:cNvSpPr txBox="1"/>
          <p:nvPr/>
        </p:nvSpPr>
        <p:spPr>
          <a:xfrm>
            <a:off x="847825" y="1629844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</p:txBody>
      </p:sp>
      <p:pic>
        <p:nvPicPr>
          <p:cNvPr id="350" name="Google Shape;35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430875"/>
            <a:ext cx="4567925" cy="464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1"/>
          <p:cNvSpPr txBox="1"/>
          <p:nvPr>
            <p:ph type="title"/>
          </p:nvPr>
        </p:nvSpPr>
        <p:spPr>
          <a:xfrm>
            <a:off x="361076" y="1924849"/>
            <a:ext cx="3128100" cy="31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Aspect based sentiment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Cross lingual models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Hybrid approaches</a:t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1580725" y="458650"/>
            <a:ext cx="26208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Future work</a:t>
            </a:r>
            <a:endParaRPr b="1" sz="2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57" name="Google Shape;35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715875"/>
            <a:ext cx="4572000" cy="234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2"/>
          <p:cNvSpPr txBox="1"/>
          <p:nvPr/>
        </p:nvSpPr>
        <p:spPr>
          <a:xfrm>
            <a:off x="1842825" y="409525"/>
            <a:ext cx="6363900" cy="10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Conclusion</a:t>
            </a:r>
            <a:endParaRPr b="1" sz="3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3" name="Google Shape;363;p32"/>
          <p:cNvSpPr txBox="1"/>
          <p:nvPr/>
        </p:nvSpPr>
        <p:spPr>
          <a:xfrm>
            <a:off x="1769100" y="1416925"/>
            <a:ext cx="6634200" cy="20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AutoNum type="arabicPeriod"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Simpler models often suffice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AutoNum type="arabicPeriod"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Transformers are situationally useful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64" name="Google Shape;36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80875"/>
            <a:ext cx="9144000" cy="17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